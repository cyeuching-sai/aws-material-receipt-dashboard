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13232"/>
            <a:ext cx="1645920" cy="420624"/>
          </a:xfrm>
          <a:prstGeom prst="roundRect">
            <a:avLst>
              <a:gd name="adj" fmla="val 17391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16" y="813816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SERVERLESS PROTOTYPE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58368" y="1600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物料點收管理看板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85800" y="244144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D8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 Excel 匯入、規則判定、資料保存到受控查詢的可驗證流程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99008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9CC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project overview · 只使用合成 Demo 資料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4937760"/>
            <a:ext cx="1234440" cy="585216"/>
          </a:xfrm>
          <a:prstGeom prst="roundRect">
            <a:avLst>
              <a:gd name="adj" fmla="val 12500"/>
            </a:avLst>
          </a:prstGeom>
          <a:solidFill>
            <a:srgbClr val="234962"/>
          </a:solidFill>
          <a:ln w="10160">
            <a:solidFill>
              <a:srgbClr val="234962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1297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上傳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47672" y="5056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BBC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176272" y="4937760"/>
            <a:ext cx="1234440" cy="585216"/>
          </a:xfrm>
          <a:prstGeom prst="roundRect">
            <a:avLst>
              <a:gd name="adj" fmla="val 12500"/>
            </a:avLst>
          </a:prstGeom>
          <a:solidFill>
            <a:srgbClr val="234962"/>
          </a:solidFill>
          <a:ln w="10160">
            <a:solidFill>
              <a:srgbClr val="234962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76272" y="51297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38144" y="5056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BBC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666744" y="4937760"/>
            <a:ext cx="1234440" cy="585216"/>
          </a:xfrm>
          <a:prstGeom prst="roundRect">
            <a:avLst>
              <a:gd name="adj" fmla="val 12500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66744" y="51297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28616" y="5056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BBC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157216" y="4937760"/>
            <a:ext cx="1234440" cy="585216"/>
          </a:xfrm>
          <a:prstGeom prst="roundRect">
            <a:avLst>
              <a:gd name="adj" fmla="val 12500"/>
            </a:avLst>
          </a:prstGeom>
          <a:solidFill>
            <a:srgbClr val="234962"/>
          </a:solidFill>
          <a:ln w="10160">
            <a:solidFill>
              <a:srgbClr val="234962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57216" y="51297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19088" y="5056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8BBC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647688" y="4937760"/>
            <a:ext cx="1234440" cy="585216"/>
          </a:xfrm>
          <a:prstGeom prst="roundRect">
            <a:avLst>
              <a:gd name="adj" fmla="val 12500"/>
            </a:avLst>
          </a:prstGeom>
          <a:solidFill>
            <a:srgbClr val="234962"/>
          </a:solidFill>
          <a:ln w="10160">
            <a:solidFill>
              <a:srgbClr val="234962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5129784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查詢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117336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9CC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公開版已移除：個人資料、AWS 帳號／使用者、憑證與實際端點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OBJECTIVE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Excel 點收資料轉成可追溯的管理資訊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重點不是把檔案放上雲端，而是讓每一次匯入都有一致判定、可查詢結果與異常紀錄。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2212848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" y="2468880"/>
            <a:ext cx="109728" cy="411480"/>
          </a:xfrm>
          <a:prstGeom prst="roundRect">
            <a:avLst>
              <a:gd name="adj" fmla="val 66667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4712" y="2441448"/>
            <a:ext cx="271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統一資料模型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999232"/>
            <a:ext cx="29352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新舊版 Excel 的工作表與欄位不同，先轉換成同一份資料模型，再套用規則。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9976" y="2212848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8576" y="2468880"/>
            <a:ext cx="109728" cy="411480"/>
          </a:xfrm>
          <a:prstGeom prst="roundRect">
            <a:avLst>
              <a:gd name="adj" fmla="val 66667"/>
            </a:avLst>
          </a:prstGeom>
          <a:solidFill>
            <a:srgbClr val="E69A24"/>
          </a:solidFill>
          <a:ln w="10160">
            <a:solidFill>
              <a:srgbClr val="E69A2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82896" y="2441448"/>
            <a:ext cx="271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規則與品質分開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2999232"/>
            <a:ext cx="29352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點收結果處理業務異常；欄位缺失等歷史資料問題則獨立標記，不覆蓋點收結果。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212848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468880"/>
            <a:ext cx="109728" cy="411480"/>
          </a:xfrm>
          <a:prstGeom prst="roundRect">
            <a:avLst>
              <a:gd name="adj" fmla="val 66667"/>
            </a:avLst>
          </a:prstGeom>
          <a:solidFill>
            <a:srgbClr val="C85A54"/>
          </a:solidFill>
          <a:ln w="10160">
            <a:solidFill>
              <a:srgbClr val="C85A5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41080" y="2441448"/>
            <a:ext cx="271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可追溯拒收流程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85048" y="2999232"/>
            <a:ext cx="29352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損壞或不符合規格的檔案不會污染正常工單；系統保留檔案與拒收原因供後續追查。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5157216"/>
            <a:ext cx="10936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設計原則：先防呆、再判定；先留紀錄、再讓人處理。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事件驅動的 Serverless 資料流程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所有來源檔皆為合成 XLSX；來源 Bucket 保持私有，前端經 API 讀取資料。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0352" y="2743200"/>
            <a:ext cx="157276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" y="2743200"/>
            <a:ext cx="1572768" cy="301752"/>
          </a:xfrm>
          <a:prstGeom prst="roundRect">
            <a:avLst>
              <a:gd name="adj" fmla="val 24242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" y="32369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XLSX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30936" y="352958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合成來源檔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148840" y="3154680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450592" y="2743200"/>
            <a:ext cx="157276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50592" y="2743200"/>
            <a:ext cx="1572768" cy="301752"/>
          </a:xfrm>
          <a:prstGeom prst="roundRect">
            <a:avLst>
              <a:gd name="adj" fmla="val 24242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32369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551176" y="352958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私有來源位置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69080" y="3154680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70832" y="2743200"/>
            <a:ext cx="157276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0832" y="2743200"/>
            <a:ext cx="1572768" cy="301752"/>
          </a:xfrm>
          <a:prstGeom prst="roundRect">
            <a:avLst>
              <a:gd name="adj" fmla="val 24242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9704" y="32369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 Lambda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71416" y="352958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解析・規則・拒收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989320" y="3154680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91072" y="2743200"/>
            <a:ext cx="157276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91072" y="2743200"/>
            <a:ext cx="1572768" cy="301752"/>
          </a:xfrm>
          <a:prstGeom prst="roundRect">
            <a:avLst>
              <a:gd name="adj" fmla="val 24242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9944" y="32369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391656" y="352958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最新狀態・匯入紀錄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909560" y="3154680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211312" y="2743200"/>
            <a:ext cx="157276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1312" y="2743200"/>
            <a:ext cx="1572768" cy="301752"/>
          </a:xfrm>
          <a:prstGeom prst="roundRect">
            <a:avLst>
              <a:gd name="adj" fmla="val 24242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30184" y="32369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API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311896" y="352958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受控查詢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829800" y="3154680"/>
            <a:ext cx="246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0131552" y="2743200"/>
            <a:ext cx="1572768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1552" y="2743200"/>
            <a:ext cx="1572768" cy="301752"/>
          </a:xfrm>
          <a:prstGeom prst="roundRect">
            <a:avLst>
              <a:gd name="adj" fmla="val 24242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50424" y="3236976"/>
            <a:ext cx="13350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232136" y="352958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看板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44368" y="4690872"/>
            <a:ext cx="6327648" cy="621792"/>
          </a:xfrm>
          <a:prstGeom prst="roundRect">
            <a:avLst>
              <a:gd name="adj" fmla="val 11765"/>
            </a:avLst>
          </a:prstGeom>
          <a:solidFill>
            <a:srgbClr val="DDF3F0"/>
          </a:solidFill>
          <a:ln w="10160">
            <a:solidFill>
              <a:srgbClr val="DDF3F0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27248" y="4901184"/>
            <a:ext cx="5961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損壞／格式不符 → rejected/ 保留 + CloudWatch 結構化拒收紀錄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RULE ENGINE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同一套規則，優先呈現最需要處理的異常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判定以統一資料模型為基礎；顯示結果會依風險與處理優先順序決定。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2121408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C85A54"/>
          </a:solidFill>
          <a:ln w="10160">
            <a:solidFill>
              <a:srgbClr val="C85A5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240280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64208" y="21945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40480" y="2203704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優先顯示，立即需要處理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64208" y="2670048"/>
            <a:ext cx="9326880" cy="0"/>
          </a:xfrm>
          <a:prstGeom prst="line">
            <a:avLst/>
          </a:prstGeom>
          <a:noFill/>
          <a:ln w="8890">
            <a:solidFill>
              <a:srgbClr val="C6D7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79806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91693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64208" y="287121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額外 PN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2880360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舊版資料出現需求外 PN 時，需要複核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664208" y="3346704"/>
            <a:ext cx="9326880" cy="0"/>
          </a:xfrm>
          <a:prstGeom prst="line">
            <a:avLst/>
          </a:prstGeom>
          <a:noFill/>
          <a:ln w="8890">
            <a:solidFill>
              <a:srgbClr val="C6D7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474720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593592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64208" y="354787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尚未完成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840480" y="355701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 PN 尚未全部有點收紀錄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64208" y="4023360"/>
            <a:ext cx="9326880" cy="0"/>
          </a:xfrm>
          <a:prstGeom prst="line">
            <a:avLst/>
          </a:prstGeom>
          <a:noFill/>
          <a:ln w="8890">
            <a:solidFill>
              <a:srgbClr val="C6D7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415137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270248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64208" y="42245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數量差異／實點差異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840480" y="4233672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數量或點收結果與預期不一致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664208" y="4700016"/>
            <a:ext cx="9326880" cy="0"/>
          </a:xfrm>
          <a:prstGeom prst="line">
            <a:avLst/>
          </a:prstGeom>
          <a:noFill/>
          <a:ln w="8890">
            <a:solidFill>
              <a:srgbClr val="C6D7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" y="482803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94690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64208" y="490118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已完成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840480" y="4910328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只有全部符合時才顯示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DASHBOARD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避免「完成率 100%」掩蓋實際異常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看板不把所有問題塞進單一狀態，而是讓管理者同時看到進度、點收結果與資料品質。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103120"/>
            <a:ext cx="1033272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103120"/>
            <a:ext cx="1673352" cy="877824"/>
          </a:xfrm>
          <a:prstGeom prst="roundRect">
            <a:avLst>
              <a:gd name="adj" fmla="val 8333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340864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07792" y="226771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覆蓋率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64608" y="2295144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只比較需求 PN 與已有點收紀錄的 PN。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914400" y="3273552"/>
            <a:ext cx="1033272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273552"/>
            <a:ext cx="1673352" cy="877824"/>
          </a:xfrm>
          <a:prstGeom prst="roundRect">
            <a:avLst>
              <a:gd name="adj" fmla="val 8333"/>
            </a:avLst>
          </a:prstGeom>
          <a:solidFill>
            <a:srgbClr val="C85A54"/>
          </a:solidFill>
          <a:ln w="10160">
            <a:solidFill>
              <a:srgbClr val="C85A54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51129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status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07792" y="34381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點收結果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64608" y="3465576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缺料、數量差異與實點差異由獨立規則判定。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914400" y="4443984"/>
            <a:ext cx="1033272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443984"/>
            <a:ext cx="1673352" cy="877824"/>
          </a:xfrm>
          <a:prstGeom prst="roundRect">
            <a:avLst>
              <a:gd name="adj" fmla="val 8333"/>
            </a:avLst>
          </a:prstGeom>
          <a:solidFill>
            <a:srgbClr val="E69A24"/>
          </a:solidFill>
          <a:ln w="10160">
            <a:solidFill>
              <a:srgbClr val="E69A2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4681728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07792" y="460857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資料品質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64608" y="4636008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欄位缺失等歷史資料問題另行標記，不改寫點收結果。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914400" y="5724144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管理者可以先篩選需要處理的工單，再開啟對應來源文件追查。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REJECTION PATH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拒收不是刪除：保留失效檔，也保留可追溯證據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無效數字、缺少工作表／必要欄位、檔名不符或無法讀取的 XLSX，均不會當成正常點收資料。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761488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2761488"/>
            <a:ext cx="2194560" cy="164592"/>
          </a:xfrm>
          <a:prstGeom prst="rect">
            <a:avLst/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14984" y="303580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檔案進入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41832" y="3419856"/>
            <a:ext cx="1801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incoming/in-progress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32461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3566160" y="2761488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2761488"/>
            <a:ext cx="2194560" cy="164592"/>
          </a:xfrm>
          <a:prstGeom prst="rect">
            <a:avLst/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67912" y="303580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檢核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794760" y="3419856"/>
            <a:ext cx="1801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讀取、解析、驗證格式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852160" y="32461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419088" y="2761488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9088" y="2761488"/>
            <a:ext cx="2194560" cy="164592"/>
          </a:xfrm>
          <a:prstGeom prst="rect">
            <a:avLst/>
          </a:prstGeom>
          <a:solidFill>
            <a:srgbClr val="C85A54"/>
          </a:solidFill>
          <a:ln w="10160">
            <a:solidFill>
              <a:srgbClr val="C85A54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303580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拒收與保留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47688" y="3419856"/>
            <a:ext cx="1801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rejected/ + error record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05088" y="32461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272016" y="2761488"/>
            <a:ext cx="21945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72016" y="2761488"/>
            <a:ext cx="2194560" cy="164592"/>
          </a:xfrm>
          <a:prstGeom prst="rect">
            <a:avLst/>
          </a:prstGeom>
          <a:solidFill>
            <a:srgbClr val="E69A24"/>
          </a:solidFill>
          <a:ln w="10160">
            <a:solidFill>
              <a:srgbClr val="E69A24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73768" y="303580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追溯查詢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500616" y="3419856"/>
            <a:ext cx="1801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CloudWatch structured log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075688" y="4956048"/>
            <a:ext cx="8028432" cy="640080"/>
          </a:xfrm>
          <a:prstGeom prst="roundRect">
            <a:avLst>
              <a:gd name="adj" fmla="val 11429"/>
            </a:avLst>
          </a:prstGeom>
          <a:solidFill>
            <a:srgbClr val="FCEDEC"/>
          </a:solidFill>
          <a:ln w="10160">
            <a:solidFill>
              <a:srgbClr val="F0C6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0" y="5175504"/>
            <a:ext cx="7607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31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拒收檔不會建立或覆蓋正常工單狀態，但可從來源位置、拒收位置與錯誤代碼追查。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DATA AND API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最新狀態與匯入紀錄分開保存，讓看板與追溯各司其職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前端只透過 API 取得需要顯示的資料，不直接讀取資料表或來源檔內部位置。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240280"/>
            <a:ext cx="44348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1288" y="2496312"/>
            <a:ext cx="109728" cy="411480"/>
          </a:xfrm>
          <a:prstGeom prst="roundRect">
            <a:avLst>
              <a:gd name="adj" fmla="val 66667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35608" y="2468880"/>
            <a:ext cx="3721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79576" y="3026664"/>
            <a:ext cx="394106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每張工單只保留最新狀態，供看板快速呈現進度、點收結果與資料品質。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07024" y="2240280"/>
            <a:ext cx="44348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35624" y="2496312"/>
            <a:ext cx="109728" cy="411480"/>
          </a:xfrm>
          <a:prstGeom prst="roundRect">
            <a:avLst>
              <a:gd name="adj" fmla="val 66667"/>
            </a:avLst>
          </a:prstGeom>
          <a:solidFill>
            <a:srgbClr val="E69A24"/>
          </a:solidFill>
          <a:ln w="10160">
            <a:solidFill>
              <a:srgbClr val="E69A2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2468880"/>
            <a:ext cx="3721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 records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153912" y="3026664"/>
            <a:ext cx="394106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保留每次檔案處理結果、處理時間與失敗原因，也支援避免相同內容重複匯入。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80360" y="5029200"/>
            <a:ext cx="6428232" cy="557784"/>
          </a:xfrm>
          <a:prstGeom prst="roundRect">
            <a:avLst>
              <a:gd name="adj" fmla="val 13115"/>
            </a:avLst>
          </a:prstGeom>
          <a:solidFill>
            <a:srgbClr val="DDF3F0"/>
          </a:solidFill>
          <a:ln w="10160">
            <a:solidFill>
              <a:srgbClr val="DDF3F0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90672" y="5221224"/>
            <a:ext cx="5998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回傳看板需要的資料；來源文件僅透過短效連結受控開啟。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VERIFICATION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先在本機驗證邏輯，再進行 AWS 端到端驗收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本機測試降低部署後反覆除錯的成本；雲端驗收確認實際元件與資料流程已正確串接。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2212848"/>
            <a:ext cx="3401568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2532888"/>
            <a:ext cx="3401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300" dirty="0"/>
          </a:p>
        </p:txBody>
      </p:sp>
      <p:sp>
        <p:nvSpPr>
          <p:cNvPr id="9" name="Text 7"/>
          <p:cNvSpPr/>
          <p:nvPr/>
        </p:nvSpPr>
        <p:spPr>
          <a:xfrm>
            <a:off x="950976" y="340156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本機自動測試通過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14984" y="3913632"/>
            <a:ext cx="2761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解析、規則、重複匯入防止、API 資料保護與損壞檔處理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4489704" y="2212848"/>
            <a:ext cx="3401568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532888"/>
            <a:ext cx="3401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300" dirty="0"/>
          </a:p>
        </p:txBody>
      </p:sp>
      <p:sp>
        <p:nvSpPr>
          <p:cNvPr id="13" name="Text 11"/>
          <p:cNvSpPr/>
          <p:nvPr/>
        </p:nvSpPr>
        <p:spPr>
          <a:xfrm>
            <a:off x="4745736" y="340156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端到端流程驗收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9744" y="3913632"/>
            <a:ext cx="2761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來源檔 → S3 → Lambda → DynamoDB → API → 看板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284464" y="2212848"/>
            <a:ext cx="3401568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0160">
            <a:solidFill>
              <a:srgbClr val="C6D7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84464" y="2532888"/>
            <a:ext cx="3401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300" b="1" dirty="0">
                <a:solidFill>
                  <a:srgbClr val="C85A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300" dirty="0"/>
          </a:p>
        </p:txBody>
      </p:sp>
      <p:sp>
        <p:nvSpPr>
          <p:cNvPr id="17" name="Text 15"/>
          <p:cNvSpPr/>
          <p:nvPr/>
        </p:nvSpPr>
        <p:spPr>
          <a:xfrm>
            <a:off x="8540496" y="340156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損壞檔拒收實測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04504" y="3913632"/>
            <a:ext cx="2761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檔案保留在拒收區，並留下可查詢的錯誤紀錄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BFC"/>
          </a:solidFill>
          <a:ln w="10160">
            <a:solidFill>
              <a:srgbClr val="F8FBF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206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20" kern="0" dirty="0">
                <a:solidFill>
                  <a:srgbClr val="08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REPRODUCE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" y="694944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0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可以重新建置，也可以安全清理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21792" y="12801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保留程式碼、SAM 範本、合成資料、測試與部署文件；不保留任何真實營運或雲端帳號資料。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64792"/>
            <a:ext cx="10945368" cy="0"/>
          </a:xfrm>
          <a:prstGeom prst="line">
            <a:avLst/>
          </a:prstGeom>
          <a:noFill/>
          <a:ln w="12700">
            <a:solidFill>
              <a:srgbClr val="C6D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2487168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27614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DE8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3544" y="31272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取得專案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23544" y="36850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8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Repository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547872" y="2487168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27614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DE8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76472" y="31272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本機驗證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76472" y="36850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8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pnpm test + static build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2487168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123047"/>
          </a:solidFill>
          <a:ln w="10160">
            <a:solidFill>
              <a:srgbClr val="123047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27614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DE8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9400" y="31272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 AWS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29400" y="36850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8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configuration 文件填入自己的帳號設定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253728" y="2487168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087E8B"/>
          </a:solidFill>
          <a:ln w="10160">
            <a:solidFill>
              <a:srgbClr val="087E8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82328" y="27614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DE8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82328" y="31272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部署與驗收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82328" y="368503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8EB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deploy + verification checklist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609344" y="5212080"/>
            <a:ext cx="8961120" cy="530352"/>
          </a:xfrm>
          <a:prstGeom prst="roundRect">
            <a:avLst>
              <a:gd name="adj" fmla="val 13793"/>
            </a:avLst>
          </a:prstGeom>
          <a:solidFill>
            <a:srgbClr val="DDF3F0"/>
          </a:solidFill>
          <a:ln w="10160">
            <a:solidFill>
              <a:srgbClr val="DDF3F0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10512" y="5394960"/>
            <a:ext cx="8558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1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公開版本僅供學習與展示；正式系統需補上登入、權限、網路與成本治理。</a:t>
            </a:r>
            <a:endParaRPr lang="en-US" sz="1230" dirty="0"/>
          </a:p>
        </p:txBody>
      </p:sp>
      <p:sp>
        <p:nvSpPr>
          <p:cNvPr id="25" name="Text 23"/>
          <p:cNvSpPr/>
          <p:nvPr/>
        </p:nvSpPr>
        <p:spPr>
          <a:xfrm>
            <a:off x="621792" y="6492240"/>
            <a:ext cx="7406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Material Receipt Dashboard · Public Project Overview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09960" y="64739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Open-source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Material Receipt Dashboard</dc:title>
  <dc:subject>Public-safe project overview</dc:subject>
  <dc:creator>AWS Material Receipt Dashboard</dc:creator>
  <cp:lastModifiedBy>AWS Material Receipt Dashboard</cp:lastModifiedBy>
  <cp:revision>1</cp:revision>
  <dcterms:created xsi:type="dcterms:W3CDTF">2026-10-23T01:59:43Z</dcterms:created>
  <dcterms:modified xsi:type="dcterms:W3CDTF">2026-10-23T01:59:43Z</dcterms:modified>
</cp:coreProperties>
</file>